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image" Target="../media/image-3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image" Target="../media/image-9-2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7.png"/><Relationship Id="rId9" Type="http://schemas.openxmlformats.org/officeDocument/2006/relationships/image" Target="../media/image-9-7.png"/><Relationship Id="rId10" Type="http://schemas.openxmlformats.org/officeDocument/2006/relationships/image" Target="../media/image-9-7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188720"/>
            <a:ext cx="4114800" cy="41148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474720" cy="34747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PRESENTATION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Skilling, Sustainability &amp; AI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SDG 17, Data Centres, Climate Tools &amp; the Road to a Capstone Project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7680960" cy="2331720"/>
          </a:xfrm>
          <a:prstGeom prst="roundRect">
            <a:avLst>
              <a:gd name="adj" fmla="val 3922"/>
            </a:avLst>
          </a:prstGeom>
          <a:solidFill>
            <a:srgbClr val="1B4332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" y="3886200"/>
            <a:ext cx="457200" cy="457200"/>
          </a:xfrm>
          <a:prstGeom prst="ellipse">
            <a:avLst/>
          </a:prstGeom>
          <a:solidFill>
            <a:srgbClr val="FFB703"/>
          </a:solidFill>
          <a:ln/>
        </p:spPr>
      </p:sp>
      <p:pic>
        <p:nvPicPr>
          <p:cNvPr id="9" name="Image 0" descr="icons/users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3995928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91640" y="38679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691640" y="4105656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Lokesh Patil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1051560" y="4453128"/>
            <a:ext cx="457200" cy="457200"/>
          </a:xfrm>
          <a:prstGeom prst="ellipse">
            <a:avLst/>
          </a:prstGeom>
          <a:solidFill>
            <a:srgbClr val="FFB703"/>
          </a:solidFill>
          <a:ln/>
        </p:spPr>
      </p:sp>
      <p:pic>
        <p:nvPicPr>
          <p:cNvPr id="13" name="Image 1" descr="icons/listol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456285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91640" y="4434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691640" y="4672584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250843131020</a:t>
            </a:r>
            <a:endParaRPr lang="en-US" sz="1550" dirty="0"/>
          </a:p>
        </p:txBody>
      </p:sp>
      <p:sp>
        <p:nvSpPr>
          <p:cNvPr id="16" name="Shape 12"/>
          <p:cNvSpPr/>
          <p:nvPr/>
        </p:nvSpPr>
        <p:spPr>
          <a:xfrm>
            <a:off x="1051560" y="5020056"/>
            <a:ext cx="457200" cy="457200"/>
          </a:xfrm>
          <a:prstGeom prst="ellipse">
            <a:avLst/>
          </a:prstGeom>
          <a:solidFill>
            <a:srgbClr val="FFB703"/>
          </a:solidFill>
          <a:ln/>
        </p:spPr>
      </p:sp>
      <p:pic>
        <p:nvPicPr>
          <p:cNvPr id="17" name="Image 2" descr="icons/hardhat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5129784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50017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691640" y="523951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550" dirty="0"/>
          </a:p>
        </p:txBody>
      </p:sp>
      <p:sp>
        <p:nvSpPr>
          <p:cNvPr id="20" name="Shape 15"/>
          <p:cNvSpPr/>
          <p:nvPr/>
        </p:nvSpPr>
        <p:spPr>
          <a:xfrm>
            <a:off x="1051560" y="5586984"/>
            <a:ext cx="457200" cy="457200"/>
          </a:xfrm>
          <a:prstGeom prst="ellipse">
            <a:avLst/>
          </a:prstGeom>
          <a:solidFill>
            <a:srgbClr val="FFB703"/>
          </a:solidFill>
          <a:ln/>
        </p:spPr>
      </p:sp>
      <p:pic>
        <p:nvPicPr>
          <p:cNvPr id="21" name="Image 3" descr="icons/university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88" y="5696712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556869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691640" y="58064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R.N.G. Patel Institute of Technology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Skilling, Sustainability &amp; AI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77440"/>
            <a:ext cx="594360" cy="59436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6" name="Image 0" descr="icons/bulb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52374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0" y="2286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7E2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14400" y="3063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14400" y="34015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17, AI data centres, and government data on green skilling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72200" y="210312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46520" y="2377440"/>
            <a:ext cx="594360" cy="59436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2" name="Image 1" descr="icons/camera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252374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61320" y="2286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7E2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6446520" y="3063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Screenshots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446520" y="34015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Walkthroughs of the calculators &amp; simulators explored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406908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4400" y="4343400"/>
            <a:ext cx="594360" cy="59436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8" name="Image 2" descr="icons/book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4489704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29200" y="4251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7E2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914400" y="5029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914400" y="53675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skilling, sustainability, and AI's dual role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172200" y="406908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46520" y="4343400"/>
            <a:ext cx="594360" cy="59436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4" name="Image 3" descr="icons/target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4489704"/>
            <a:ext cx="301752" cy="30175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561320" y="4251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7E2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6446520" y="5029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Proposals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6446520" y="53675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ideas combining AI, sustainability &amp; SDG 17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Skilling, Sustainability &amp; AI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 —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17: Partnerships for the Goals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17 Sustainable Development Goals, SDG 17 stood out most across every link explored — none of these tools work in isolation. Every solution reviewed depends on partnership: between governments, private companies, and individuals.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1064240" cy="3291840"/>
          </a:xfrm>
          <a:prstGeom prst="roundRect">
            <a:avLst>
              <a:gd name="adj" fmla="val 2778"/>
            </a:avLst>
          </a:prstGeom>
          <a:solidFill>
            <a:srgbClr val="EFF5F1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3017520"/>
            <a:ext cx="777240" cy="77724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7" name="Image 0" descr="icons/handshak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321868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31272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partnership shows up in each tool</a:t>
            </a:r>
            <a:endParaRPr lang="en-US" sz="1600" dirty="0"/>
          </a:p>
        </p:txBody>
      </p:sp>
      <p:pic>
        <p:nvPicPr>
          <p:cNvPr id="9" name="Image 1" descr="icons/check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93192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38587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+ industry: </a:t>
            </a:r>
            <a:pPr indent="0" marL="0">
              <a:buNone/>
            </a:pPr>
            <a:r>
              <a:rPr lang="en-US" sz="125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SCGJ is a government-recognised body (under MSDE) working with private renewable energy companies to train the green workforce</a:t>
            </a:r>
            <a:endParaRPr lang="en-US" sz="1250" dirty="0"/>
          </a:p>
        </p:txBody>
      </p:sp>
      <p:pic>
        <p:nvPicPr>
          <p:cNvPr id="11" name="Image 2" descr="icons/check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43484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436168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+ individuals: </a:t>
            </a:r>
            <a:pPr indent="0" marL="0">
              <a:buNone/>
            </a:pPr>
            <a:r>
              <a:rPr lang="en-US" sz="125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International's carbon calculator links personal footprint data to forest-protection funding partnerships</a:t>
            </a:r>
            <a:endParaRPr lang="en-US" sz="1250" dirty="0"/>
          </a:p>
        </p:txBody>
      </p:sp>
      <p:pic>
        <p:nvPicPr>
          <p:cNvPr id="13" name="Image 3" descr="icons/check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93776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486460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+ policy: </a:t>
            </a:r>
            <a:pPr indent="0" marL="0">
              <a:buNone/>
            </a:pPr>
            <a:r>
              <a:rPr lang="en-US" sz="125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En-ROADS is built by MIT Sloan and Climate Interactive, then used directly in UN and government policy workshops</a:t>
            </a:r>
            <a:endParaRPr lang="en-US" sz="1250" dirty="0"/>
          </a:p>
        </p:txBody>
      </p:sp>
      <p:pic>
        <p:nvPicPr>
          <p:cNvPr id="15" name="Image 4" descr="icons/check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440680"/>
            <a:ext cx="274320" cy="2743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80160" y="536752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 + corporates: </a:t>
            </a:r>
            <a:pPr indent="0" marL="0">
              <a:buNone/>
            </a:pPr>
            <a:r>
              <a:rPr lang="en-US" sz="125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NANDO partners with companies like L'Oréal and Deloitte to pilot AI waste monitoring at scale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Skilling, Sustainability &amp; AI</a:t>
            </a:r>
            <a:endParaRPr lang="en-US" sz="1000" dirty="0"/>
          </a:p>
        </p:txBody>
      </p:sp>
      <p:sp>
        <p:nvSpPr>
          <p:cNvPr id="18" name="Text 11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 —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Centres: The Environmental Cost of AI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Insider documentary “Exposing the Dark Side of America's AI Data Center Explosion” revealed a side of AI that's easy to miss: the physical infrastructure behind every chatbot query and model has a real, growing environmental footprint.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3108960"/>
            <a:ext cx="548640" cy="54864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7" name="Image 0" descr="icons/bolt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2461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8404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electricity demand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44348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centres now account for a fast-growing share of US electricity use, driven almost entirely by AI training and inference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97680" y="288036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6280" y="3108960"/>
            <a:ext cx="548640" cy="54864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2" name="Image 1" descr="icons/tint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32461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38404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water use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26280" y="44348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large server farms consumes millions of gallons of water daily — often in water-stressed regions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46720" y="288036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75320" y="3108960"/>
            <a:ext cx="548640" cy="54864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7" name="Image 2" descr="icons/gaspump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324612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75320" y="38404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strain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275320" y="44348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a third of new US power demand growth is now tied directly to data centre expansion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sustainability tech (calculators, AI monitoring, simulators) itself runs on this same digital infrastructure — progress and impact go hand in hand.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Skilling, Sustainability &amp; AI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 —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Data: SCGJ &amp; India's Green Workforce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Council for Green Jobs (sscgj.in) is a government-recognised body under India's Ministry of Skill Development and Entrepreneurship (MSDE), set up in 2015. Its published data shows how policy translates into real jobs.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FF5F1"/>
          </a:solidFill>
          <a:ln/>
        </p:spPr>
      </p:sp>
      <p:pic>
        <p:nvPicPr>
          <p:cNvPr id="6" name="Image 0" descr="icons/users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01752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3474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575,000+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13232" y="3977640"/>
            <a:ext cx="22768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trained so far under SCGJ programmes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55848" y="28346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FF5F1"/>
          </a:solidFill>
          <a:ln/>
        </p:spPr>
      </p:sp>
      <p:pic>
        <p:nvPicPr>
          <p:cNvPr id="10" name="Image 1" descr="icons/grad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3017520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20440" y="3474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million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3520440" y="3977640"/>
            <a:ext cx="22768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placement target set for 2047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163056" y="28346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FF5F1"/>
          </a:solidFill>
          <a:ln/>
        </p:spPr>
      </p:sp>
      <p:pic>
        <p:nvPicPr>
          <p:cNvPr id="14" name="Image 2" descr="icons/solar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3017520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27648" y="3474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6327648" y="3977640"/>
            <a:ext cx="22768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qualification packs across solar, wind, green hydrogen &amp; waste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970264" y="28346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FF5F1"/>
          </a:solidFill>
          <a:ln/>
        </p:spPr>
      </p:sp>
      <p:pic>
        <p:nvPicPr>
          <p:cNvPr id="18" name="Image 3" descr="icons/hardhat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3144" y="3017520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34856" y="3474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Suryamitra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9134856" y="3977640"/>
            <a:ext cx="22768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scheme certifying solar PV installation technicians nationwide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548640" y="5486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sscgj.in — official government-recognised skilling body data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Skilling, Sustainability &amp; AI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WALKTHROUGH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Exploring the Footprint &amp; Carbon Calculators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recreation of the calculator interfaces and the kind of result each activity produces.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D7DF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5394960" cy="347472"/>
          </a:xfrm>
          <a:prstGeom prst="rect">
            <a:avLst/>
          </a:prstGeom>
          <a:solidFill>
            <a:srgbClr val="EDEFEE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084832"/>
            <a:ext cx="109728" cy="109728"/>
          </a:xfrm>
          <a:prstGeom prst="ellipse">
            <a:avLst/>
          </a:prstGeom>
          <a:solidFill>
            <a:srgbClr val="E36258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084832"/>
            <a:ext cx="109728" cy="109728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" y="2084832"/>
            <a:ext cx="109728" cy="109728"/>
          </a:xfrm>
          <a:prstGeom prst="ellipse">
            <a:avLst/>
          </a:prstGeom>
          <a:solidFill>
            <a:srgbClr val="62C370"/>
          </a:solidFill>
          <a:ln/>
        </p:spPr>
      </p:sp>
      <p:sp>
        <p:nvSpPr>
          <p:cNvPr id="10" name="Shape 8"/>
          <p:cNvSpPr/>
          <p:nvPr/>
        </p:nvSpPr>
        <p:spPr>
          <a:xfrm>
            <a:off x="1325880" y="2039112"/>
            <a:ext cx="43891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7DF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034540"/>
            <a:ext cx="4297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footprint.conservation.org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2514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Ecological Footprint Quiz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926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of 10 — How often do you eat meat?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333756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279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28269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3749040"/>
            <a:ext cx="201168" cy="201168"/>
          </a:xfrm>
          <a:prstGeom prst="ellipse">
            <a:avLst/>
          </a:prstGeom>
          <a:solidFill>
            <a:srgbClr val="FFB703"/>
          </a:solidFill>
          <a:ln w="15875">
            <a:solidFill>
              <a:srgbClr val="5279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369417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times a week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416052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279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410565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457200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279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451713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" y="5120640"/>
            <a:ext cx="4572000" cy="128016"/>
          </a:xfrm>
          <a:prstGeom prst="rect">
            <a:avLst/>
          </a:prstGeom>
          <a:solidFill>
            <a:srgbClr val="DCE6E0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" y="5120640"/>
            <a:ext cx="1371600" cy="128016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303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complete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2960" y="5669280"/>
            <a:ext cx="4846320" cy="1097280"/>
          </a:xfrm>
          <a:prstGeom prst="roundRect">
            <a:avLst>
              <a:gd name="adj" fmla="val 5000"/>
            </a:avLst>
          </a:prstGeom>
          <a:solidFill>
            <a:srgbClr val="EFF5F1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5788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Result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05840" y="6035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 global hectares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05840" y="6400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equivalent to 2.6 Earths if everyone lived this way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1965960"/>
            <a:ext cx="539496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D7DF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1965960"/>
            <a:ext cx="5394960" cy="347472"/>
          </a:xfrm>
          <a:prstGeom prst="rect">
            <a:avLst/>
          </a:prstGeom>
          <a:solidFill>
            <a:srgbClr val="EDEFEE"/>
          </a:solidFill>
          <a:ln/>
        </p:spPr>
      </p:sp>
      <p:sp>
        <p:nvSpPr>
          <p:cNvPr id="31" name="Shape 29"/>
          <p:cNvSpPr/>
          <p:nvPr/>
        </p:nvSpPr>
        <p:spPr>
          <a:xfrm>
            <a:off x="6355080" y="2084832"/>
            <a:ext cx="109728" cy="109728"/>
          </a:xfrm>
          <a:prstGeom prst="ellipse">
            <a:avLst/>
          </a:prstGeom>
          <a:solidFill>
            <a:srgbClr val="E36258"/>
          </a:solidFill>
          <a:ln/>
        </p:spPr>
      </p:sp>
      <p:sp>
        <p:nvSpPr>
          <p:cNvPr id="32" name="Shape 30"/>
          <p:cNvSpPr/>
          <p:nvPr/>
        </p:nvSpPr>
        <p:spPr>
          <a:xfrm>
            <a:off x="6537960" y="2084832"/>
            <a:ext cx="109728" cy="109728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33" name="Shape 31"/>
          <p:cNvSpPr/>
          <p:nvPr/>
        </p:nvSpPr>
        <p:spPr>
          <a:xfrm>
            <a:off x="6720840" y="2084832"/>
            <a:ext cx="109728" cy="109728"/>
          </a:xfrm>
          <a:prstGeom prst="ellipse">
            <a:avLst/>
          </a:prstGeom>
          <a:solidFill>
            <a:srgbClr val="62C370"/>
          </a:solidFill>
          <a:ln/>
        </p:spPr>
      </p:sp>
      <p:sp>
        <p:nvSpPr>
          <p:cNvPr id="34" name="Shape 32"/>
          <p:cNvSpPr/>
          <p:nvPr/>
        </p:nvSpPr>
        <p:spPr>
          <a:xfrm>
            <a:off x="6995160" y="2039112"/>
            <a:ext cx="43891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7DFD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0" y="2034540"/>
            <a:ext cx="4297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conservation.org/carbon-footprint-calculator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492240" y="2514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Carbon Footprint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92240" y="2880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breakdown (tonnes CO2/year)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92240" y="3337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Energy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046720" y="3364992"/>
            <a:ext cx="2112264" cy="25603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0" name="Text 38"/>
          <p:cNvSpPr/>
          <p:nvPr/>
        </p:nvSpPr>
        <p:spPr>
          <a:xfrm>
            <a:off x="6492240" y="3794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046720" y="3822192"/>
            <a:ext cx="2715768" cy="25603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2" name="Text 40"/>
          <p:cNvSpPr/>
          <p:nvPr/>
        </p:nvSpPr>
        <p:spPr>
          <a:xfrm>
            <a:off x="6492240" y="4251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046720" y="4279392"/>
            <a:ext cx="1659636" cy="256032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44" name="Text 42"/>
          <p:cNvSpPr/>
          <p:nvPr/>
        </p:nvSpPr>
        <p:spPr>
          <a:xfrm>
            <a:off x="6492240" y="4709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046720" y="4736592"/>
            <a:ext cx="1207008" cy="256032"/>
          </a:xfrm>
          <a:prstGeom prst="rect">
            <a:avLst/>
          </a:prstGeom>
          <a:solidFill>
            <a:srgbClr val="8AA79A"/>
          </a:solidFill>
          <a:ln/>
        </p:spPr>
      </p:sp>
      <p:sp>
        <p:nvSpPr>
          <p:cNvPr id="46" name="Shape 44"/>
          <p:cNvSpPr/>
          <p:nvPr/>
        </p:nvSpPr>
        <p:spPr>
          <a:xfrm>
            <a:off x="6492240" y="5349240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EFF5F1"/>
          </a:solidFill>
          <a:ln/>
        </p:spPr>
      </p:sp>
      <p:sp>
        <p:nvSpPr>
          <p:cNvPr id="47" name="Text 45"/>
          <p:cNvSpPr/>
          <p:nvPr/>
        </p:nvSpPr>
        <p:spPr>
          <a:xfrm>
            <a:off x="6675120" y="5486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8.4 tonnes CO2 / year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675120" y="58247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US average of 16 tonnes, above the 2-tonne target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Skilling, Sustainability &amp; AI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WALKTHROUGH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Exploring En-ROADS &amp; the NANDO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recreation of the simulator/dashboard layout and sample outputs.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D7DF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5394960" cy="347472"/>
          </a:xfrm>
          <a:prstGeom prst="rect">
            <a:avLst/>
          </a:prstGeom>
          <a:solidFill>
            <a:srgbClr val="EDEFEE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084832"/>
            <a:ext cx="109728" cy="109728"/>
          </a:xfrm>
          <a:prstGeom prst="ellipse">
            <a:avLst/>
          </a:prstGeom>
          <a:solidFill>
            <a:srgbClr val="E36258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084832"/>
            <a:ext cx="109728" cy="109728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" y="2084832"/>
            <a:ext cx="109728" cy="109728"/>
          </a:xfrm>
          <a:prstGeom prst="ellipse">
            <a:avLst/>
          </a:prstGeom>
          <a:solidFill>
            <a:srgbClr val="62C370"/>
          </a:solidFill>
          <a:ln/>
        </p:spPr>
      </p:sp>
      <p:sp>
        <p:nvSpPr>
          <p:cNvPr id="10" name="Shape 8"/>
          <p:cNvSpPr/>
          <p:nvPr/>
        </p:nvSpPr>
        <p:spPr>
          <a:xfrm>
            <a:off x="1325880" y="2039112"/>
            <a:ext cx="43891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7DF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034540"/>
            <a:ext cx="4297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en-roads.climateinteractive.org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2514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En-ROADS Policy Sliders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Price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3264408"/>
            <a:ext cx="4572000" cy="82296"/>
          </a:xfrm>
          <a:prstGeom prst="rect">
            <a:avLst/>
          </a:prstGeom>
          <a:solidFill>
            <a:srgbClr val="DCE6E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3264408"/>
            <a:ext cx="2971800" cy="82296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6" name="Shape 14"/>
          <p:cNvSpPr/>
          <p:nvPr/>
        </p:nvSpPr>
        <p:spPr>
          <a:xfrm>
            <a:off x="3721608" y="3191256"/>
            <a:ext cx="228600" cy="2286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538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Renewables Growth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3831336"/>
            <a:ext cx="4572000" cy="82296"/>
          </a:xfrm>
          <a:prstGeom prst="rect">
            <a:avLst/>
          </a:prstGeom>
          <a:solidFill>
            <a:srgbClr val="DCE6E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31336"/>
            <a:ext cx="3657600" cy="82296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0" name="Shape 18"/>
          <p:cNvSpPr/>
          <p:nvPr/>
        </p:nvSpPr>
        <p:spPr>
          <a:xfrm>
            <a:off x="4407408" y="3758184"/>
            <a:ext cx="228600" cy="2286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1056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 Use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" y="4398264"/>
            <a:ext cx="4572000" cy="82296"/>
          </a:xfrm>
          <a:prstGeom prst="rect">
            <a:avLst/>
          </a:prstGeom>
          <a:solidFill>
            <a:srgbClr val="DCE6E0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" y="4398264"/>
            <a:ext cx="1143000" cy="82296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4" name="Shape 22"/>
          <p:cNvSpPr/>
          <p:nvPr/>
        </p:nvSpPr>
        <p:spPr>
          <a:xfrm>
            <a:off x="1892808" y="4325112"/>
            <a:ext cx="228600" cy="2286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6725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Adoption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2960" y="4965192"/>
            <a:ext cx="4572000" cy="82296"/>
          </a:xfrm>
          <a:prstGeom prst="rect">
            <a:avLst/>
          </a:prstGeom>
          <a:solidFill>
            <a:srgbClr val="DCE6E0"/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" y="4965192"/>
            <a:ext cx="2514600" cy="82296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8" name="Shape 26"/>
          <p:cNvSpPr/>
          <p:nvPr/>
        </p:nvSpPr>
        <p:spPr>
          <a:xfrm>
            <a:off x="3264408" y="4892040"/>
            <a:ext cx="228600" cy="2286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9" name="Shape 27"/>
          <p:cNvSpPr/>
          <p:nvPr/>
        </p:nvSpPr>
        <p:spPr>
          <a:xfrm>
            <a:off x="822960" y="5330952"/>
            <a:ext cx="4846320" cy="1051560"/>
          </a:xfrm>
          <a:prstGeom prst="roundRect">
            <a:avLst>
              <a:gd name="adj" fmla="val 5217"/>
            </a:avLst>
          </a:prstGeom>
          <a:solidFill>
            <a:srgbClr val="EFF5F1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5440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warming by 2100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05840" y="56967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2.4°C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005840" y="6108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current slider settings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17920" y="1965960"/>
            <a:ext cx="539496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D7DF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7920" y="1965960"/>
            <a:ext cx="5394960" cy="347472"/>
          </a:xfrm>
          <a:prstGeom prst="rect">
            <a:avLst/>
          </a:prstGeom>
          <a:solidFill>
            <a:srgbClr val="EDEFEE"/>
          </a:solidFill>
          <a:ln/>
        </p:spPr>
      </p:sp>
      <p:sp>
        <p:nvSpPr>
          <p:cNvPr id="35" name="Shape 33"/>
          <p:cNvSpPr/>
          <p:nvPr/>
        </p:nvSpPr>
        <p:spPr>
          <a:xfrm>
            <a:off x="6355080" y="2084832"/>
            <a:ext cx="109728" cy="109728"/>
          </a:xfrm>
          <a:prstGeom prst="ellipse">
            <a:avLst/>
          </a:prstGeom>
          <a:solidFill>
            <a:srgbClr val="E36258"/>
          </a:solidFill>
          <a:ln/>
        </p:spPr>
      </p:sp>
      <p:sp>
        <p:nvSpPr>
          <p:cNvPr id="36" name="Shape 34"/>
          <p:cNvSpPr/>
          <p:nvPr/>
        </p:nvSpPr>
        <p:spPr>
          <a:xfrm>
            <a:off x="6537960" y="2084832"/>
            <a:ext cx="109728" cy="109728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37" name="Shape 35"/>
          <p:cNvSpPr/>
          <p:nvPr/>
        </p:nvSpPr>
        <p:spPr>
          <a:xfrm>
            <a:off x="6720840" y="2084832"/>
            <a:ext cx="109728" cy="109728"/>
          </a:xfrm>
          <a:prstGeom prst="ellipse">
            <a:avLst/>
          </a:prstGeom>
          <a:solidFill>
            <a:srgbClr val="62C370"/>
          </a:solidFill>
          <a:ln/>
        </p:spPr>
      </p:sp>
      <p:sp>
        <p:nvSpPr>
          <p:cNvPr id="38" name="Shape 36"/>
          <p:cNvSpPr/>
          <p:nvPr/>
        </p:nvSpPr>
        <p:spPr>
          <a:xfrm>
            <a:off x="6995160" y="2039112"/>
            <a:ext cx="43891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7DF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40880" y="2034540"/>
            <a:ext cx="4297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nandoai.com/dashboard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492240" y="2514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NANDO Smart Bin Dashboard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492240" y="2971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A — Office Floor 2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0698480" y="2971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92240" y="3264408"/>
            <a:ext cx="4572000" cy="146304"/>
          </a:xfrm>
          <a:prstGeom prst="rect">
            <a:avLst/>
          </a:prstGeom>
          <a:solidFill>
            <a:srgbClr val="DCE6E0"/>
          </a:solidFill>
          <a:ln/>
        </p:spPr>
      </p:sp>
      <p:sp>
        <p:nvSpPr>
          <p:cNvPr id="44" name="Shape 42"/>
          <p:cNvSpPr/>
          <p:nvPr/>
        </p:nvSpPr>
        <p:spPr>
          <a:xfrm>
            <a:off x="6492240" y="3264408"/>
            <a:ext cx="3749040" cy="146304"/>
          </a:xfrm>
          <a:prstGeom prst="rect">
            <a:avLst/>
          </a:prstGeom>
          <a:solidFill>
            <a:srgbClr val="C1272D"/>
          </a:solidFill>
          <a:ln/>
        </p:spPr>
      </p:sp>
      <p:sp>
        <p:nvSpPr>
          <p:cNvPr id="45" name="Text 43"/>
          <p:cNvSpPr/>
          <p:nvPr/>
        </p:nvSpPr>
        <p:spPr>
          <a:xfrm>
            <a:off x="6492240" y="35387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B — Cafeteria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0698480" y="35387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492240" y="3831336"/>
            <a:ext cx="4572000" cy="146304"/>
          </a:xfrm>
          <a:prstGeom prst="rect">
            <a:avLst/>
          </a:prstGeom>
          <a:solidFill>
            <a:srgbClr val="DCE6E0"/>
          </a:solidFill>
          <a:ln/>
        </p:spPr>
      </p:sp>
      <p:sp>
        <p:nvSpPr>
          <p:cNvPr id="48" name="Shape 46"/>
          <p:cNvSpPr/>
          <p:nvPr/>
        </p:nvSpPr>
        <p:spPr>
          <a:xfrm>
            <a:off x="6492240" y="3831336"/>
            <a:ext cx="2057400" cy="14630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9" name="Text 47"/>
          <p:cNvSpPr/>
          <p:nvPr/>
        </p:nvSpPr>
        <p:spPr>
          <a:xfrm>
            <a:off x="6492240" y="41056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C — Loading Dock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0698480" y="410565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492240" y="4398264"/>
            <a:ext cx="4572000" cy="146304"/>
          </a:xfrm>
          <a:prstGeom prst="rect">
            <a:avLst/>
          </a:prstGeom>
          <a:solidFill>
            <a:srgbClr val="DCE6E0"/>
          </a:solidFill>
          <a:ln/>
        </p:spPr>
      </p:sp>
      <p:sp>
        <p:nvSpPr>
          <p:cNvPr id="52" name="Shape 50"/>
          <p:cNvSpPr/>
          <p:nvPr/>
        </p:nvSpPr>
        <p:spPr>
          <a:xfrm>
            <a:off x="6492240" y="4398264"/>
            <a:ext cx="914400" cy="146304"/>
          </a:xfrm>
          <a:prstGeom prst="rect">
            <a:avLst/>
          </a:prstGeom>
          <a:solidFill>
            <a:srgbClr val="2D8659"/>
          </a:solidFill>
          <a:ln/>
        </p:spPr>
      </p:sp>
      <p:sp>
        <p:nvSpPr>
          <p:cNvPr id="53" name="Shape 51"/>
          <p:cNvSpPr/>
          <p:nvPr/>
        </p:nvSpPr>
        <p:spPr>
          <a:xfrm>
            <a:off x="6492240" y="4809744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EFF5F1"/>
          </a:solidFill>
          <a:ln/>
        </p:spPr>
      </p:sp>
      <p:pic>
        <p:nvPicPr>
          <p:cNvPr id="54" name="Image 0" descr="icons/check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4965192"/>
            <a:ext cx="274320" cy="274320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7040880" y="49469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 Bin A above 80% — route collection today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Skilling, Sustainability &amp; AI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— REFERENCE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Green Skilling &amp; Sustainability?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EFF5F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6" name="Image 0" descr="icons/hardhat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13055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57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Skilling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7889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training people with the technical knowledge needed for eco-friendly industries — solar installation, wind maintenance, waste management, and green hydrogen production. It reskills existing workers and prepares new entrants for jobs the clean-energy transition is creating.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42519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India: SCGJ has certified 575,000+ people and targets 10 million by 2047 across solar, wind, hydrogen and waste sectors.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8680" y="5212080"/>
            <a:ext cx="4754880" cy="0"/>
          </a:xfrm>
          <a:prstGeom prst="line">
            <a:avLst/>
          </a:prstGeom>
          <a:noFill/>
          <a:ln w="12700">
            <a:solidFill>
              <a:srgbClr val="C6D6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53492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clean-energy targets fail without a skilled workforce to install, operate and maintain the technology.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17920" y="169164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EFF5F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37960" y="196596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4" name="Image 1" descr="icons/leaf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2130552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06640" y="2057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Sustainability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537960" y="27889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today's environmental, social and economic needs without compromising the ability of future generations to meet theirs. In practice: reducing carbon emissions, using resources efficiently, cutting waste, and protecting ecosystems while still supporting growth.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537960" y="42519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explored (footprint calculators, En-ROADS, NANDO) all exist to measure or improve one of these dimensions.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537960" y="5212080"/>
            <a:ext cx="4754880" cy="0"/>
          </a:xfrm>
          <a:prstGeom prst="line">
            <a:avLst/>
          </a:prstGeom>
          <a:noFill/>
          <a:ln w="12700">
            <a:solidFill>
              <a:srgbClr val="C6D6C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537960" y="53492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SDG 17's partnerships only succeed if every partner is working toward the same sustainability targets.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Skilling, Sustainability &amp; AI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3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371600"/>
            <a:ext cx="4114800" cy="41148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— REFERENCE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Sustainability: A Double-Edged Sword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4526280"/>
          </a:xfrm>
          <a:prstGeom prst="roundRect">
            <a:avLst>
              <a:gd name="adj" fmla="val 2020"/>
            </a:avLst>
          </a:prstGeom>
          <a:solidFill>
            <a:srgbClr val="1B4332"/>
          </a:solidFill>
          <a:ln/>
        </p:spPr>
      </p:sp>
      <p:pic>
        <p:nvPicPr>
          <p:cNvPr id="6" name="Image 0" descr="icons/thumbsup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9385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AI Helps</a:t>
            </a:r>
            <a:endParaRPr lang="en-US" sz="1700" dirty="0"/>
          </a:p>
        </p:txBody>
      </p:sp>
      <p:pic>
        <p:nvPicPr>
          <p:cNvPr id="8" name="Image 1" descr="icons/check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14600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245973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NANDO's computer vision cuts collection-vehicle mileage 15–25% by routing only to full bins</a:t>
            </a:r>
            <a:endParaRPr lang="en-US" sz="1150" dirty="0"/>
          </a:p>
        </p:txBody>
      </p:sp>
      <p:pic>
        <p:nvPicPr>
          <p:cNvPr id="10" name="Image 2" descr="icons/check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429000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337413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En-ROADS lets policymakers test climate scenarios instantly instead of waiting years for real-world data</a:t>
            </a:r>
            <a:endParaRPr lang="en-US" sz="1150" dirty="0"/>
          </a:p>
        </p:txBody>
      </p:sp>
      <p:pic>
        <p:nvPicPr>
          <p:cNvPr id="12" name="Image 3" descr="icons/check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343400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88720" y="428853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grids and demand forecasting help balance renewable energy supply with real-time need</a:t>
            </a:r>
            <a:endParaRPr lang="en-US" sz="1150" dirty="0"/>
          </a:p>
        </p:txBody>
      </p:sp>
      <p:pic>
        <p:nvPicPr>
          <p:cNvPr id="14" name="Image 4" descr="icons/check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257800"/>
            <a:ext cx="237744" cy="23774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88720" y="520293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+ AI monitoring detects deforestation and illegal fishing far faster than manual review</a:t>
            </a:r>
            <a:endParaRPr lang="en-US" sz="1150" dirty="0"/>
          </a:p>
        </p:txBody>
      </p:sp>
      <p:sp>
        <p:nvSpPr>
          <p:cNvPr id="16" name="Shape 9"/>
          <p:cNvSpPr/>
          <p:nvPr/>
        </p:nvSpPr>
        <p:spPr>
          <a:xfrm>
            <a:off x="6217920" y="1691640"/>
            <a:ext cx="5394960" cy="4526280"/>
          </a:xfrm>
          <a:prstGeom prst="roundRect">
            <a:avLst>
              <a:gd name="adj" fmla="val 2020"/>
            </a:avLst>
          </a:prstGeom>
          <a:solidFill>
            <a:srgbClr val="1B4332"/>
          </a:solidFill>
          <a:ln/>
        </p:spPr>
      </p:sp>
      <p:pic>
        <p:nvPicPr>
          <p:cNvPr id="17" name="Image 5" descr="icons/thumbsdown_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1920240"/>
            <a:ext cx="411480" cy="41148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040880" y="19385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AI Costs</a:t>
            </a:r>
            <a:endParaRPr lang="en-US" sz="1700" dirty="0"/>
          </a:p>
        </p:txBody>
      </p:sp>
      <p:pic>
        <p:nvPicPr>
          <p:cNvPr id="19" name="Image 6" descr="icons/times_r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2514600"/>
            <a:ext cx="237744" cy="237744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858000" y="245973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large models consumes huge amounts of electricity, much of it still from fossil-fuel grids</a:t>
            </a:r>
            <a:endParaRPr lang="en-US" sz="1150" dirty="0"/>
          </a:p>
        </p:txBody>
      </p:sp>
      <p:pic>
        <p:nvPicPr>
          <p:cNvPr id="21" name="Image 7" descr="icons/times_r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3429000"/>
            <a:ext cx="237744" cy="237744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858000" y="337413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centre cooling systems use millions of gallons of water daily, straining local water supplies</a:t>
            </a:r>
            <a:endParaRPr lang="en-US" sz="1150" dirty="0"/>
          </a:p>
        </p:txBody>
      </p:sp>
      <p:pic>
        <p:nvPicPr>
          <p:cNvPr id="23" name="Image 8" descr="icons/times_r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0" y="4343400"/>
            <a:ext cx="237744" cy="237744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6858000" y="428853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AI hardware turnover adds to global e-waste generation</a:t>
            </a:r>
            <a:endParaRPr lang="en-US" sz="1150" dirty="0"/>
          </a:p>
        </p:txBody>
      </p:sp>
      <p:pic>
        <p:nvPicPr>
          <p:cNvPr id="25" name="Image 9" descr="icons/times_r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0" y="5257800"/>
            <a:ext cx="237744" cy="237744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6858000" y="520293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often concentrate in wealthy regions while environmental costs (water, land, noise) fall on nearby communities</a:t>
            </a:r>
            <a:endParaRPr lang="en-US" sz="1150" dirty="0"/>
          </a:p>
        </p:txBody>
      </p:sp>
      <p:sp>
        <p:nvSpPr>
          <p:cNvPr id="2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Skilling, Sustainability &amp; AI</a:t>
            </a:r>
            <a:endParaRPr lang="en-US" sz="1000" dirty="0"/>
          </a:p>
        </p:txBody>
      </p:sp>
      <p:sp>
        <p:nvSpPr>
          <p:cNvPr id="28" name="Text 16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SLIDE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Project Proposals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ideas applying AI to environment, sustainability &amp; green skilling — directly aligned with SDG 17 (Partnerships for the Goals)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313432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7" name="Image 0" descr="icons/camera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432304"/>
            <a:ext cx="26517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2860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Smart-Bin Contamination Detector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04672" y="2926080"/>
            <a:ext cx="4882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low-cost computer-vision app (inspired by NANDO) that photographs a household or campus bin and flags contamination before collection, feeding data to a local municipal partner.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17920" y="205740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73952" y="2313432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2" name="Image 1" descr="icons/calculator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2432304"/>
            <a:ext cx="265176" cy="2651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22860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Carbon Footprint Tracker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473952" y="2926080"/>
            <a:ext cx="4882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app for students/staff to log commute, energy and food choices, benchmarked against SCGJ and Conservation International data, with a leaderboard to drive behaviour change.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420624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4672" y="4462272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7" name="Image 2" descr="icons/chart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4581144"/>
            <a:ext cx="265176" cy="26517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44348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Climate-Policy Simulator for Local Government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04672" y="5074920"/>
            <a:ext cx="4882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En-ROADS-inspired, simplified simulator for a city/district showing how local policies (EV incentives, solar subsidies) affect local emissions — built as a partnership with the municipal corporation.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217920" y="420624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73952" y="4462272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2" name="Image 3" descr="icons/hardhat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4581144"/>
            <a:ext cx="265176" cy="26517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32320" y="44348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AI-Matched Green Skilling Portal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473952" y="5074920"/>
            <a:ext cx="4882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recommendation engine that matches unemployed youth to the right SCGJ qualification pack (solar, hydrogen, waste) based on their existing skills and local job demand.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Skilling, Sustainability &amp; AI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Skilling, Sustainability &amp; AI — Assignment</dc:title>
  <dc:subject>PptxGenJS Presentation</dc:subject>
  <dc:creator>Lokesh Patil</dc:creator>
  <cp:lastModifiedBy>Lokesh Patil</cp:lastModifiedBy>
  <cp:revision>1</cp:revision>
  <dcterms:created xsi:type="dcterms:W3CDTF">2026-07-06T11:30:51Z</dcterms:created>
  <dcterms:modified xsi:type="dcterms:W3CDTF">2026-07-06T11:30:51Z</dcterms:modified>
</cp:coreProperties>
</file>